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202f4825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202f4825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202f4825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202f4825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202f4825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202f4825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202f48256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202f4825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202f4825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202f4825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202f48256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c202f4825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202f48256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c202f48256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202f48256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c202f48256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202f48256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c202f48256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202f48256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c202f48256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c202f48256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c202f48256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202f48256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c202f48256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c202f48256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c202f48256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3591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Scalable &amp; Secure 3-Tier Continuous Delivery</a:t>
            </a:r>
            <a:endParaRPr sz="33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333"/>
              <a:buFont typeface="Arial"/>
              <a:buNone/>
            </a:pPr>
            <a:r>
              <a:rPr lang="en" sz="3300"/>
              <a:t>Architecture</a:t>
            </a:r>
            <a:endParaRPr sz="3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Toptal Assignment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-Sridath Jeelugula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333"/>
              <a:buFont typeface="Arial"/>
              <a:buNone/>
            </a:pPr>
            <a:r>
              <a:rPr lang="en" sz="3300"/>
              <a:t>Problem Statement &amp; Goals</a:t>
            </a:r>
            <a:endParaRPr sz="3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Design a real-life production-ready 3-tier architecture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Ensure high availability, fault </a:t>
            </a:r>
            <a:r>
              <a:rPr lang="en" sz="2000">
                <a:solidFill>
                  <a:schemeClr val="dk1"/>
                </a:solidFill>
              </a:rPr>
              <a:t>tolerance,and secure tire isolation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Enable fully automated, zero-downtime deployments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Provide centralized logs and historical metrics for observability and troubleshooting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333"/>
              <a:buFont typeface="Arial"/>
              <a:buNone/>
            </a:pPr>
            <a:r>
              <a:rPr lang="en" sz="3300"/>
              <a:t>High-Level Architecture</a:t>
            </a:r>
            <a:endParaRPr sz="3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Users access the system via Azure Front Door (CDN)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Web tier hosted on Azure App Service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API tier hosted on Azure App Service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PostgreSQL Flexible Server used as the database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Database is not exposed to the Internet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ACR used as container </a:t>
            </a:r>
            <a:r>
              <a:rPr lang="en" sz="2000">
                <a:solidFill>
                  <a:schemeClr val="dk1"/>
                </a:solidFill>
              </a:rPr>
              <a:t>registry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Log monitoring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</a:t>
            </a:r>
            <a:endParaRPr/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8350164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Infra as Code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All resources provisioned using Terraform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Infrastructure is version-controlled and reproducible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Supports fast recovery and consistent environments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Avoids configuration drift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State file stored backend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333"/>
              <a:buFont typeface="Arial"/>
              <a:buNone/>
            </a:pPr>
            <a:r>
              <a:rPr lang="en" sz="3300"/>
              <a:t>CI/CD &amp; Zero Downtime</a:t>
            </a:r>
            <a:endParaRPr sz="3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GitHub Actions used for CI/CD pipelines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Docker images built and pushed to Azure Container Registry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Deployments go to staging slots first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Slot swap promotes changes to production with zero downtime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333"/>
              <a:buFont typeface="Arial"/>
              <a:buNone/>
            </a:pPr>
            <a:r>
              <a:rPr lang="en" sz="3300"/>
              <a:t>High Availability &amp; Autoscaling</a:t>
            </a:r>
            <a:endParaRPr sz="3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App Service Plan configured with minimum 2 instances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Autoscaling enabled to handle load and failures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Instance failures are handled automatically by Azure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Verified using az webapp list-instances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333"/>
              <a:buFont typeface="Arial"/>
              <a:buNone/>
            </a:pPr>
            <a:r>
              <a:rPr lang="en" sz="3300"/>
              <a:t>Observability &amp; Historical Metrics</a:t>
            </a:r>
            <a:endParaRPr sz="3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Application and platform logs sent to Log Analytics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Application Insights used for metrics and traces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Historical data available for debugging bottlenecks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No logs stored directly on application hosts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333"/>
              <a:buFont typeface="Arial"/>
              <a:buNone/>
            </a:pPr>
            <a:r>
              <a:rPr lang="en" sz="3300"/>
              <a:t>Security Model</a:t>
            </a:r>
            <a:endParaRPr sz="3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Database has no public endpoint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Only API tier can access the database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Web tier communicates with API over HTTPS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Secrets managed via App Service configuration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333"/>
              <a:buFont typeface="Arial"/>
              <a:buNone/>
            </a:pPr>
            <a:r>
              <a:rPr lang="en" sz="3300"/>
              <a:t>CDN &amp; Global Performance</a:t>
            </a:r>
            <a:endParaRPr sz="3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Azure Front Door used as a CDN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Routes users based on geographic location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Improves latency and availability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Acts as global entry point for the system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333"/>
              <a:buFont typeface="Arial"/>
              <a:buNone/>
            </a:pPr>
            <a:r>
              <a:rPr lang="en" sz="3300"/>
              <a:t>Failure Scenarios &amp; Recovery</a:t>
            </a:r>
            <a:endParaRPr sz="3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Instance failure handled by autoscale and multiple workers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Deployment failures isolated using deployment slots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Database backups allow recovery from failures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333"/>
              <a:buFont typeface="Arial"/>
              <a:buNone/>
            </a:pPr>
            <a:r>
              <a:rPr lang="en" sz="3300"/>
              <a:t>Requirement </a:t>
            </a:r>
            <a:r>
              <a:rPr lang="en" sz="3300"/>
              <a:t>Implementation</a:t>
            </a:r>
            <a:endParaRPr/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CDN by client location                      →      </a:t>
            </a:r>
            <a:r>
              <a:rPr b="1" lang="en" sz="2000">
                <a:solidFill>
                  <a:schemeClr val="dk1"/>
                </a:solidFill>
              </a:rPr>
              <a:t>Azure Front Door</a:t>
            </a:r>
            <a:br>
              <a:rPr b="1" lang="en" sz="2000">
                <a:solidFill>
                  <a:schemeClr val="dk1"/>
                </a:solidFill>
              </a:rPr>
            </a:b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High availability &amp; instance failure    →      </a:t>
            </a:r>
            <a:r>
              <a:rPr b="1" lang="en" sz="2000">
                <a:solidFill>
                  <a:schemeClr val="dk1"/>
                </a:solidFill>
              </a:rPr>
              <a:t>App Service autoscale (min 2 instances)</a:t>
            </a:r>
            <a:br>
              <a:rPr b="1" lang="en" sz="2000">
                <a:solidFill>
                  <a:schemeClr val="dk1"/>
                </a:solidFill>
              </a:rPr>
            </a:b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Zero downtime deployments             →      </a:t>
            </a:r>
            <a:r>
              <a:rPr b="1" lang="en" sz="2000">
                <a:solidFill>
                  <a:schemeClr val="dk1"/>
                </a:solidFill>
              </a:rPr>
              <a:t>Deployment slots &amp; swap</a:t>
            </a:r>
            <a:br>
              <a:rPr b="1" lang="en" sz="2000">
                <a:solidFill>
                  <a:schemeClr val="dk1"/>
                </a:solidFill>
              </a:rPr>
            </a:b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Centralized logs &amp; metrics                 →     </a:t>
            </a:r>
            <a:r>
              <a:rPr b="1" lang="en" sz="2000">
                <a:solidFill>
                  <a:schemeClr val="dk1"/>
                </a:solidFill>
              </a:rPr>
              <a:t>Application Insights &amp; Log Analytics</a:t>
            </a:r>
            <a:br>
              <a:rPr b="1" lang="en" sz="2000">
                <a:solidFill>
                  <a:schemeClr val="dk1"/>
                </a:solidFill>
              </a:rPr>
            </a:b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Secure DB access                             →      </a:t>
            </a:r>
            <a:r>
              <a:rPr b="1" lang="en" sz="2000">
                <a:solidFill>
                  <a:schemeClr val="dk1"/>
                </a:solidFill>
              </a:rPr>
              <a:t>Private networking, API-only access</a:t>
            </a:r>
            <a:br>
              <a:rPr b="1" lang="en" sz="2000">
                <a:solidFill>
                  <a:schemeClr val="dk1"/>
                </a:solidFill>
              </a:rPr>
            </a:b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Backups                                             →      </a:t>
            </a:r>
            <a:r>
              <a:rPr b="1" lang="en" sz="2000">
                <a:solidFill>
                  <a:schemeClr val="dk1"/>
                </a:solidFill>
              </a:rPr>
              <a:t>PostgreSQL automated backups</a:t>
            </a:r>
            <a:br>
              <a:rPr b="1" lang="en" sz="2000">
                <a:solidFill>
                  <a:schemeClr val="dk1"/>
                </a:solidFill>
              </a:rPr>
            </a:b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IaC                                                     →      </a:t>
            </a:r>
            <a:r>
              <a:rPr b="1" lang="en" sz="2000">
                <a:solidFill>
                  <a:schemeClr val="dk1"/>
                </a:solidFill>
              </a:rPr>
              <a:t>Terraform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000">
                <a:solidFill>
                  <a:schemeClr val="dk1"/>
                </a:solidFill>
              </a:rPr>
              <a:t>Designed a </a:t>
            </a:r>
            <a:r>
              <a:rPr b="1" lang="en" sz="2000">
                <a:solidFill>
                  <a:schemeClr val="dk1"/>
                </a:solidFill>
              </a:rPr>
              <a:t>production-ready 3-tier architecture</a:t>
            </a:r>
            <a:r>
              <a:rPr lang="en" sz="2000">
                <a:solidFill>
                  <a:schemeClr val="dk1"/>
                </a:solidFill>
              </a:rPr>
              <a:t> using Azure</a:t>
            </a:r>
            <a:br>
              <a:rPr lang="en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000">
                <a:solidFill>
                  <a:schemeClr val="dk1"/>
                </a:solidFill>
              </a:rPr>
              <a:t>Implemented </a:t>
            </a:r>
            <a:r>
              <a:rPr b="1" lang="en" sz="2000">
                <a:solidFill>
                  <a:schemeClr val="dk1"/>
                </a:solidFill>
              </a:rPr>
              <a:t>high availability, autoscaling, and zero-downtime deployments</a:t>
            </a:r>
            <a:br>
              <a:rPr b="1" lang="en" sz="2000">
                <a:solidFill>
                  <a:schemeClr val="dk1"/>
                </a:solidFill>
              </a:rPr>
            </a:br>
            <a:endParaRPr b="1" sz="20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000">
                <a:solidFill>
                  <a:schemeClr val="dk1"/>
                </a:solidFill>
              </a:rPr>
              <a:t>Ensured </a:t>
            </a:r>
            <a:r>
              <a:rPr b="1" lang="en" sz="2000">
                <a:solidFill>
                  <a:schemeClr val="dk1"/>
                </a:solidFill>
              </a:rPr>
              <a:t>secure tier isolation</a:t>
            </a:r>
            <a:r>
              <a:rPr lang="en" sz="2000">
                <a:solidFill>
                  <a:schemeClr val="dk1"/>
                </a:solidFill>
              </a:rPr>
              <a:t> with a private database</a:t>
            </a:r>
            <a:br>
              <a:rPr lang="en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000">
                <a:solidFill>
                  <a:schemeClr val="dk1"/>
                </a:solidFill>
              </a:rPr>
              <a:t>Enabled </a:t>
            </a:r>
            <a:r>
              <a:rPr b="1" lang="en" sz="2000">
                <a:solidFill>
                  <a:schemeClr val="dk1"/>
                </a:solidFill>
              </a:rPr>
              <a:t>centralized observability and historical metrics</a:t>
            </a:r>
            <a:br>
              <a:rPr b="1" lang="en" sz="2000">
                <a:solidFill>
                  <a:schemeClr val="dk1"/>
                </a:solidFill>
              </a:rPr>
            </a:br>
            <a:endParaRPr b="1" sz="20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000">
                <a:solidFill>
                  <a:schemeClr val="dk1"/>
                </a:solidFill>
              </a:rPr>
              <a:t>Infrastructure and deployments are </a:t>
            </a:r>
            <a:r>
              <a:rPr b="1" lang="en" sz="2000">
                <a:solidFill>
                  <a:schemeClr val="dk1"/>
                </a:solidFill>
              </a:rPr>
              <a:t>fully automated via Terraform and CI/CD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333"/>
              <a:buFont typeface="Arial"/>
              <a:buNone/>
            </a:pPr>
            <a:r>
              <a:rPr lang="en" sz="3300"/>
              <a:t>Future Improvements</a:t>
            </a:r>
            <a:endParaRPr sz="3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Add automated tests to CI pipelines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Configure alerting on latency and error rates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Implement canary deployments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Enable geo-redundant database backups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